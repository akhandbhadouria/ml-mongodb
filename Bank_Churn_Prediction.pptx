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1371600" cy="6858000"/>
          </a:xfrm>
          <a:prstGeom prst="rect">
            <a:avLst/>
          </a:prstGeom>
          <a:solidFill>
            <a:srgbClr val="8B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0972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0" b="1">
                <a:solidFill>
                  <a:srgbClr val="C05520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-7315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0" b="1">
                <a:solidFill>
                  <a:srgbClr val="D0652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B"/>
                </a:solidFill>
                <a:latin typeface="Calibri"/>
              </a:rPr>
              <a:t>Bank Churn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08C3A"/>
                </a:solidFill>
                <a:latin typeface="Calibri"/>
              </a:rPr>
              <a:t>Bank Customer
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B"/>
                </a:solidFill>
                <a:latin typeface="Calibri"/>
              </a:rPr>
              <a:t>ML Model  ·  MongoDB  ·  PyMongo  · 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C0B8"/>
                </a:solidFill>
                <a:latin typeface="Calibri"/>
              </a:rPr>
              <a:t>Predicting customer churn using Random Forest
and storing results in 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20640"/>
            <a:ext cx="2011680" cy="438912"/>
          </a:xfrm>
          <a:prstGeom prst="rect">
            <a:avLst/>
          </a:prstGeom>
          <a:noFill/>
          <a:ln w="1905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8C3A"/>
                </a:solidFill>
                <a:latin typeface="Calibri"/>
              </a:rPr>
              <a:t>View Presentation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What is Customer Churn?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102F"/>
                </a:solidFill>
                <a:latin typeface="Calibri"/>
              </a:rPr>
              <a:t>Customer churn is when a bank customer stops using the bank's services. It is one of the biggest challenges in the banking industry.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474720" cy="13716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20.4%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B"/>
                </a:solidFill>
                <a:latin typeface="Calibri"/>
              </a:rPr>
              <a:t>in the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965960"/>
            <a:ext cx="3474720" cy="13716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57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26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B"/>
                </a:solidFill>
                <a:latin typeface="Calibri"/>
              </a:rPr>
              <a:t>total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65960"/>
            <a:ext cx="3474720" cy="13716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57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86%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26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B"/>
                </a:solidFill>
                <a:latin typeface="Calibri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C3A"/>
                </a:solidFill>
                <a:latin typeface="Calibri"/>
              </a:rPr>
              <a:t>Why does it matter?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02F"/>
                </a:solidFill>
                <a:latin typeface="Calibri"/>
              </a:rPr>
              <a:t>✦  Retaining a customer is 5x cheaper than acquiring a new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16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02F"/>
                </a:solidFill>
                <a:latin typeface="Calibri"/>
              </a:rPr>
              <a:t>✦  Early identification allows targeted retention campaigns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55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02F"/>
                </a:solidFill>
                <a:latin typeface="Calibri"/>
              </a:rPr>
              <a:t>✦  ML models can predict churn with high accuracy before it happens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Project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Tech Stack &amp; Components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1737360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🐍 Python 3.9+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9842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395728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350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🤖 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4261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Random Forest + sklearn Pipeline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3054096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08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🍃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0098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NoSQL database for predictions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3712464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667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🔌 PyMongo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5935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Python driver for MongoDB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4370832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25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🗜  Joblib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Model serialization (model.pkl)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5029199"/>
            <a:ext cx="320040" cy="320040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834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🐼 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76087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Data loading and manipulation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097280"/>
            <a:ext cx="59893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097280"/>
            <a:ext cx="5989320" cy="45720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3" name="Oval 32"/>
          <p:cNvSpPr/>
          <p:nvPr/>
        </p:nvSpPr>
        <p:spPr>
          <a:xfrm>
            <a:off x="6080760" y="1664208"/>
            <a:ext cx="384048" cy="384048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70078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66420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Bank_Churn.csv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9751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10,000 customer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2048256"/>
            <a:ext cx="73152" cy="512064"/>
          </a:xfrm>
          <a:prstGeom prst="rect">
            <a:avLst/>
          </a:prstGeom>
          <a:solidFill>
            <a:srgbClr val="CC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80760" y="2560320"/>
            <a:ext cx="384048" cy="384048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259689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5603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train_model.py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871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Preprocess + train Random Forest → model.pkl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2944368"/>
            <a:ext cx="73152" cy="512064"/>
          </a:xfrm>
          <a:prstGeom prst="rect">
            <a:avLst/>
          </a:prstGeom>
          <a:solidFill>
            <a:srgbClr val="CC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80760" y="3456432"/>
            <a:ext cx="384048" cy="384048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49300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4564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main.py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Load model, take input, predict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3840480"/>
            <a:ext cx="73152" cy="512064"/>
          </a:xfrm>
          <a:prstGeom prst="rect">
            <a:avLst/>
          </a:prstGeom>
          <a:solidFill>
            <a:srgbClr val="CC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80760" y="4352544"/>
            <a:ext cx="384048" cy="384048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3891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3525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MongoDB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Store result: insertOne()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4736592"/>
            <a:ext cx="73152" cy="512064"/>
          </a:xfrm>
          <a:prstGeom prst="rect">
            <a:avLst/>
          </a:prstGeom>
          <a:solidFill>
            <a:srgbClr val="CCA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80760" y="5248656"/>
            <a:ext cx="384048" cy="384048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528523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2486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Query / Demo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559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find, update, delete, aggregate...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Dataset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Bank_Churn.csv — 10,000 customer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64592" cy="8229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16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CreditScore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216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81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300 – 850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75688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075688"/>
            <a:ext cx="164592" cy="8229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Geography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France / Germany / Spain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08376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08376"/>
            <a:ext cx="164592" cy="8229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81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081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472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Male / Female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41064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41064"/>
            <a:ext cx="164592" cy="8229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142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799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18 – 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73752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08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873752"/>
            <a:ext cx="164592" cy="8229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469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Tenure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946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12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0 – 10 years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143000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C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143000"/>
            <a:ext cx="164592" cy="82296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216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Balance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1216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1581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Account balance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075688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C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2075688"/>
            <a:ext cx="164592" cy="82296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NumOfProducts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 – 4 products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008376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C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3008376"/>
            <a:ext cx="164592" cy="82296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81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HasCrCard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081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Binary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4472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 = Yes, 0 = 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3941064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C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3941064"/>
            <a:ext cx="164592" cy="82296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0142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IsActiveMember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Binary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3799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 = Yes, 0 = 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4873752"/>
            <a:ext cx="5577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C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4873752"/>
            <a:ext cx="164592" cy="82296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9469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102F"/>
                </a:solidFill>
                <a:latin typeface="Calibri"/>
              </a:rPr>
              <a:t>EstimatedSalary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946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Numeric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312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Annual salary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C3A"/>
                </a:solidFill>
                <a:latin typeface="Calibri"/>
              </a:rPr>
              <a:t>Target: Exited  (1 = Churned  |  0 = Stayed)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Data Preprocessing &amp;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sklearn Pipeline — consistent train + predict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5394960" cy="4572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521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Preprocessing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664208"/>
            <a:ext cx="5248656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773936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preprocessor = ColumnTransformer([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("num", StandardScaler(),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numeric_cols),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("cat", OneHotEncoder(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handle_unknown="ignore"),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categorical_cols),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])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3355848"/>
            <a:ext cx="256032" cy="256032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StandardScaler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Normalises numeric features to zero mean, unit variance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3995928"/>
            <a:ext cx="256032" cy="256032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950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OneHotEncoder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Converts Geography &amp; Gender into binary columns</a:t>
            </a:r>
          </a:p>
        </p:txBody>
      </p:sp>
      <p:sp>
        <p:nvSpPr>
          <p:cNvPr id="21" name="Oval 20"/>
          <p:cNvSpPr/>
          <p:nvPr/>
        </p:nvSpPr>
        <p:spPr>
          <a:xfrm>
            <a:off x="384048" y="4636008"/>
            <a:ext cx="256032" cy="256032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Bundles preprocessing + classifier into one object</a:t>
            </a:r>
          </a:p>
        </p:txBody>
      </p:sp>
      <p:sp>
        <p:nvSpPr>
          <p:cNvPr id="24" name="Oval 23"/>
          <p:cNvSpPr/>
          <p:nvPr/>
        </p:nvSpPr>
        <p:spPr>
          <a:xfrm>
            <a:off x="384048" y="5276088"/>
            <a:ext cx="256032" cy="256032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230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Stratified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80% train / 20% test — preserves class ratio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97280"/>
            <a:ext cx="59893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097280"/>
            <a:ext cx="5989320" cy="45720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1521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Random Forest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1664208"/>
            <a:ext cx="5833872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1773936"/>
            <a:ext cx="555955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model = Pipeline([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("preprocessing", preprocessor),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("classifier", RandomForestClassifier(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n_estimators=100,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random_state=42)),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])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model.fit(X_train, y_train)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090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Algorithm: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0906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Random Forest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Trees: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657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100 estimators (n_estimators=100)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Seed: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224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random_state=42 — reproducible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791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Output: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7914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predict() → 0 or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35838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Probability: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35838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predict_proba() → churn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925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C3A"/>
                </a:solidFill>
                <a:latin typeface="Calibri"/>
              </a:rPr>
              <a:t>▶  Saved as: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5925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model.pkl via joblib.dump()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Model Evaluation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Tested on 2,000 unseen customer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2743200" cy="15087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0700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0EB"/>
                </a:solidFill>
                <a:latin typeface="Calibr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143000"/>
            <a:ext cx="2743200" cy="150876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20700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0.77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0EB"/>
                </a:solidFill>
                <a:latin typeface="Calibri"/>
              </a:rPr>
              <a:t>Precision
(Churn)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143000"/>
            <a:ext cx="2743200" cy="150876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20700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0EB"/>
                </a:solidFill>
                <a:latin typeface="Calibri"/>
              </a:rPr>
              <a:t>Recall
(Churn)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143000"/>
            <a:ext cx="2743200" cy="150876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20700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0.56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0EB"/>
                </a:solidFill>
                <a:latin typeface="Calibri"/>
              </a:rPr>
              <a:t>F1 Score
(Churn)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8346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3A"/>
                </a:solidFill>
                <a:latin typeface="Calibri"/>
              </a:rPr>
              <a:t>Confusion Matrix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73552"/>
            <a:ext cx="1828800" cy="594360"/>
          </a:xfrm>
          <a:prstGeom prst="rect">
            <a:avLst/>
          </a:prstGeom>
          <a:solidFill>
            <a:srgbClr val="F08C3A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0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3273552"/>
            <a:ext cx="1828800" cy="594360"/>
          </a:xfrm>
          <a:prstGeom prst="rect">
            <a:avLst/>
          </a:prstGeom>
          <a:solidFill>
            <a:srgbClr val="F08C3A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410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Pred: Stay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273552"/>
            <a:ext cx="1828800" cy="594360"/>
          </a:xfrm>
          <a:prstGeom prst="rect">
            <a:avLst/>
          </a:prstGeom>
          <a:solidFill>
            <a:srgbClr val="F08C3A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410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Pred: Churn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31920"/>
            <a:ext cx="1828800" cy="594360"/>
          </a:xfrm>
          <a:prstGeom prst="rect">
            <a:avLst/>
          </a:prstGeom>
          <a:solidFill>
            <a:srgbClr val="F08C3A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Act: Stay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3931920"/>
            <a:ext cx="1828800" cy="594360"/>
          </a:xfrm>
          <a:prstGeom prst="rect">
            <a:avLst/>
          </a:prstGeom>
          <a:solidFill>
            <a:srgbClr val="D5E8D5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B102F"/>
                </a:solidFill>
                <a:latin typeface="Calibri"/>
              </a:rPr>
              <a:t>TN = 1539 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931920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B102F"/>
                </a:solidFill>
                <a:latin typeface="Calibri"/>
              </a:rPr>
              <a:t>FP = 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590288"/>
            <a:ext cx="1828800" cy="594360"/>
          </a:xfrm>
          <a:prstGeom prst="rect">
            <a:avLst/>
          </a:prstGeom>
          <a:solidFill>
            <a:srgbClr val="F08C3A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Act: Churn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4590288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B102F"/>
                </a:solidFill>
                <a:latin typeface="Calibri"/>
              </a:rPr>
              <a:t>FN = 226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590288"/>
            <a:ext cx="1828800" cy="594360"/>
          </a:xfrm>
          <a:prstGeom prst="rect">
            <a:avLst/>
          </a:prstGeom>
          <a:solidFill>
            <a:srgbClr val="D5E8D5"/>
          </a:solidFill>
          <a:ln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B102F"/>
                </a:solidFill>
                <a:latin typeface="Calibri"/>
              </a:rPr>
              <a:t>TP = 181 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834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3A"/>
                </a:solidFill>
                <a:latin typeface="Calibri"/>
              </a:rPr>
              <a:t>Classification 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3273552"/>
            <a:ext cx="585216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38328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precision  recall  f1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Stay  (0)     0.87       0.97    0.92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Churn (1)     0.77       0.44    0.56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accuracy               0.86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macro avg     0.82      0.71    0.74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weighted avg  0.85      0.86    0.84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Test set: 2000 records  (stratified 80/20 split)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MongoDB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bank_churn_db  →  prediction_history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5303520" cy="11155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25296"/>
            <a:ext cx="50292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client  = MongoClient("mongodb://localhost:27017/")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db      = client["bank_churn_db"]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records = db["prediction_history"]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377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C3A"/>
                </a:solidFill>
                <a:latin typeface="Calibri"/>
              </a:rPr>
              <a:t>Document Stored Per Prediction: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5303520" cy="3611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898648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"_id":          ObjectId (auto),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"name":         "Rahul",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"credit_score": 650,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"country":      "France",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"gender":       "Male",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"age":          35,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"tenure":       5,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"balance":      50000.0,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"products":     1,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"prediction":   0,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"result":       "Likely to Stay",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"probability":  0.12,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"time":         datetime.now()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1155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C3A"/>
                </a:solidFill>
                <a:latin typeface="Calibri"/>
              </a:rPr>
              <a:t>Operations Demonstrated:</a:t>
            </a:r>
          </a:p>
        </p:txBody>
      </p:sp>
      <p:sp>
        <p:nvSpPr>
          <p:cNvPr id="16" name="Oval 15"/>
          <p:cNvSpPr/>
          <p:nvPr/>
        </p:nvSpPr>
        <p:spPr>
          <a:xfrm>
            <a:off x="6016752" y="156362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157276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536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insertOne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36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predict_customer() → save to MongoDB</a:t>
            </a:r>
          </a:p>
        </p:txBody>
      </p:sp>
      <p:sp>
        <p:nvSpPr>
          <p:cNvPr id="20" name="Oval 19"/>
          <p:cNvSpPr/>
          <p:nvPr/>
        </p:nvSpPr>
        <p:spPr>
          <a:xfrm>
            <a:off x="6016752" y="2112263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2121407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08483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find + 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8483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show_all() → latest 10 records</a:t>
            </a:r>
          </a:p>
        </p:txBody>
      </p:sp>
      <p:sp>
        <p:nvSpPr>
          <p:cNvPr id="24" name="Oval 23"/>
          <p:cNvSpPr/>
          <p:nvPr/>
        </p:nvSpPr>
        <p:spPr>
          <a:xfrm>
            <a:off x="6016752" y="266090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267004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633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findOne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633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find_one() → fetch by _id</a:t>
            </a:r>
          </a:p>
        </p:txBody>
      </p:sp>
      <p:sp>
        <p:nvSpPr>
          <p:cNvPr id="28" name="Oval 27"/>
          <p:cNvSpPr/>
          <p:nvPr/>
        </p:nvSpPr>
        <p:spPr>
          <a:xfrm>
            <a:off x="6016752" y="3209543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3218687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18211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updateOne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8211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update_note() → add analyst note</a:t>
            </a:r>
          </a:p>
        </p:txBody>
      </p:sp>
      <p:sp>
        <p:nvSpPr>
          <p:cNvPr id="32" name="Oval 31"/>
          <p:cNvSpPr/>
          <p:nvPr/>
        </p:nvSpPr>
        <p:spPr>
          <a:xfrm>
            <a:off x="6016752" y="375818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6752" y="376732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7307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deleteOne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307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delete_one() → remove a record</a:t>
            </a:r>
          </a:p>
        </p:txBody>
      </p:sp>
      <p:sp>
        <p:nvSpPr>
          <p:cNvPr id="36" name="Oval 35"/>
          <p:cNvSpPr/>
          <p:nvPr/>
        </p:nvSpPr>
        <p:spPr>
          <a:xfrm>
            <a:off x="6016752" y="430682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431596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2793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countDocuments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793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count_records() → total / churn / stay</a:t>
            </a:r>
          </a:p>
        </p:txBody>
      </p:sp>
      <p:sp>
        <p:nvSpPr>
          <p:cNvPr id="40" name="Oval 39"/>
          <p:cNvSpPr/>
          <p:nvPr/>
        </p:nvSpPr>
        <p:spPr>
          <a:xfrm>
            <a:off x="6016752" y="4855463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16752" y="4864607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482803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filter ($gt)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2803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filter_by_age() → age &gt; N</a:t>
            </a:r>
          </a:p>
        </p:txBody>
      </p:sp>
      <p:sp>
        <p:nvSpPr>
          <p:cNvPr id="44" name="Oval 43"/>
          <p:cNvSpPr/>
          <p:nvPr/>
        </p:nvSpPr>
        <p:spPr>
          <a:xfrm>
            <a:off x="6016752" y="540410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16752" y="541324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5376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sort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3766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sort_by_age() → asc / desc</a:t>
            </a:r>
          </a:p>
        </p:txBody>
      </p:sp>
      <p:sp>
        <p:nvSpPr>
          <p:cNvPr id="48" name="Oval 47"/>
          <p:cNvSpPr/>
          <p:nvPr/>
        </p:nvSpPr>
        <p:spPr>
          <a:xfrm>
            <a:off x="6016752" y="5952744"/>
            <a:ext cx="329184" cy="329184"/>
          </a:xfrm>
          <a:prstGeom prst="ellipse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16752" y="596188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59253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102F"/>
                </a:solidFill>
                <a:latin typeface="Calibri"/>
              </a:rPr>
              <a:t>aggregate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925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summary() → group by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08/14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insertOne  &amp;  find +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Save predictions · Retrieve latest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78992"/>
            <a:ext cx="5687568" cy="384048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  insertOne — predict_customer()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record = 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"name": name, "credit_score": score,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"country": country, "gender": gender,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"age": age, "tenure": tenure,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"balance": balance, "products": products,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"prediction": prediction,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"result": label,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"probability": round(probability, 4),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"time": datetime.now()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}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saved = records.insert_one(record)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print("Saved MongoDB ID:", saved.inserted_id)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Inserts one document per prediction. MongoDB auto-generates _id.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078992"/>
            <a:ext cx="5687568" cy="384048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  find + sort — show_all()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show_all():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docs = list(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records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.find()          # all documents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.sort("_id", -1) # newest first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.limit(10)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for doc in docs: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print(json.dumps(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doc,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default=str,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indent=2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Returns latest 10 records sorted by insertion order (newest first).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09/14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findOne  &amp;  updateOne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Fetch single record · Add analyst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78992"/>
            <a:ext cx="5687568" cy="384048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03  findOne — find_one()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08760"/>
            <a:ext cx="5687568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18488"/>
            <a:ext cx="541324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find_one():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record_id = input(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"Enter MongoDB record ID: 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).strip()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doc = records.find_one({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"_id": ObjectId(record_id)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print(json.dumps(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doc, default=str, indent=2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 if doc else "No record found.")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5876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Fetches exactly one document matching the given _id. Returns None if not found.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078992"/>
            <a:ext cx="5687568" cy="384048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04  updateOne — update_note()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5687568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18488"/>
            <a:ext cx="541324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update_note():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data = input(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"Enter ID and note: 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).split(",", 1)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result = records.update_one(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{"_id": ObjectId(data[0].strip())},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{"$set": 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"note": data[1].strip()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}}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print("Updated:", result.modified_count)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85876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Updates only the matched document. Uses $set to add/change a field without replacing the whole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deleteOne  &amp;  countDocuments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Remove a record · Count total / filtered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78992"/>
            <a:ext cx="5687568" cy="384048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05  deleteOne — delete_one()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delete_one():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record_id = input(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"Enter MongoDB ID to delete: 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).strip()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Confirm before deleting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if input("Type YES to confirm: ") != "YES":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print("Delete cancelled.")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return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result = records.delete_one({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"_id": ObjectId(record_id)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print("Deleted" if result.deleted_count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else "Not found.")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Permanently removes one document. Confirmation step prevents accidental deletion.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078992"/>
            <a:ext cx="5687568" cy="384048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06  countDocuments — count_records()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count_records():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Count ALL records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total = records.count_documents({})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Count only churn predictions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churn = records.count_documents({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"prediction": 1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Count only stay predictions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stay  = records.count_documents({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"prediction": 0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print("Total:", total)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print("Churn:", churn)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print("Stay: ", stay)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Pass {} for all records, or a filter query for conditional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Filtering  &amp; 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Query with conditions · Order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78992"/>
            <a:ext cx="5687568" cy="384048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 Filtering ($gt operator) — filter_by_age()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filter_by_age():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age = int(input(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"Show customers older than age: 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Find all docs where age &gt; entered value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Sorted by age descending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docs = list(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records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.find({"age": {"$gt": age}})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.sort("age", -1)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print(json.dumps(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docs, default=str, indent=2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 if docs else "No matches.")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MongoDB comparison operators: $gt (&gt;), $lt (&lt;), $gte (≥), $lte (≤), $eq (=), $ne (≠)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078992"/>
            <a:ext cx="5687568" cy="384048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155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08  Sorting — sort_by_age()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5687568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18488"/>
            <a:ext cx="5413248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sort_by_age():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choice = input(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"1 = ascending, 2 = descending: 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).strip()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# 1 = ASCENDING, -1 = DESCENDING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direction = 1 if choice == "1" else -1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docs = list(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records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.find()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.sort("age", direction)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.limit(10)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print(json.dumps(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docs, default=str, indent=2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 if docs else "No records.")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B102F"/>
                </a:solidFill>
                <a:latin typeface="Calibri"/>
              </a:rPr>
              <a:t>sort(field, 1) = A→Z / low→high  |  sort(field, -1) = Z→A / high→low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Aggregation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Group, summarise and analyse stored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1155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C3A"/>
                </a:solidFill>
                <a:latin typeface="Calibri"/>
              </a:rPr>
              <a:t>09  aggregate() — summary()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08760"/>
            <a:ext cx="5989320" cy="4160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618488"/>
            <a:ext cx="57150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def summary():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docs = list(records.aggregate([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# Stage 1: Group by prediction result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{"$group": 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"_id": "$result",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"total": {"$sum": 1},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"average_probability": {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    "$avg": "$probability"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}},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# Stage 2: Sort by total (highest first)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{"$sort": {"total": -1}}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]))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print(json.dumps(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    docs, default=str, indent=2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  ) if docs else "No records.")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15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C3A"/>
                </a:solidFill>
                <a:latin typeface="Calibri"/>
              </a:rPr>
              <a:t>How the Pipeline Works: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9105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Stage 1 — $group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  •  Groups documents by the 'result'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134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  •  Counts total docs per group using $sum: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609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  •  Calculates average probability using $avg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91256"/>
            <a:ext cx="5486400" cy="36576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2783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Stage 2 — $sort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027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  •  Sorts the grouped results by total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502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02F"/>
                </a:solidFill>
                <a:latin typeface="Calibri"/>
              </a:rPr>
              <a:t>  •  Direction -1 = highest count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8C3A"/>
                </a:solidFill>
                <a:latin typeface="Calibri"/>
              </a:rPr>
              <a:t>Sample Output: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846320"/>
            <a:ext cx="54864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95604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8E6A0"/>
                </a:solidFill>
                <a:latin typeface="Courier New"/>
              </a:rPr>
              <a:t>[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{"_id": "Likely to Stay",  "total": 8, "average_probability": 0.14},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  {"_id": "Likely to Churn", "total": 4, "average_probability": 0.72}</a:t>
            </a:r>
          </a:p>
          <a:p>
            <a:r>
              <a:rPr sz="950">
                <a:solidFill>
                  <a:srgbClr val="A8E6A0"/>
                </a:solidFill>
                <a:latin typeface="Courier New"/>
              </a:rPr>
              <a:t>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2872" y="-27432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b="1">
                <a:solidFill>
                  <a:srgbClr val="F5C89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8C3A"/>
                </a:solidFill>
                <a:latin typeface="Calibri"/>
              </a:rPr>
              <a:t>Bank Churn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164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08C3A"/>
                </a:solidFill>
                <a:latin typeface="Calibri"/>
              </a:rPr>
              <a:t>13/14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8C3A"/>
                </a:solidFill>
                <a:latin typeface="Calibri"/>
              </a:rPr>
              <a:t>MongoDB Operations —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102F"/>
                </a:solidFill>
                <a:latin typeface="Calibri"/>
              </a:rPr>
              <a:t>All 9 operations implemented in main.py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457200" cy="512064"/>
          </a:xfrm>
          <a:prstGeom prst="rect">
            <a:avLst/>
          </a:prstGeom>
          <a:solidFill>
            <a:srgbClr val="2B102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115568"/>
            <a:ext cx="2103120" cy="512064"/>
          </a:xfrm>
          <a:prstGeom prst="rect">
            <a:avLst/>
          </a:prstGeom>
          <a:solidFill>
            <a:srgbClr val="2B102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22529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115568"/>
            <a:ext cx="2286000" cy="512064"/>
          </a:xfrm>
          <a:prstGeom prst="rect">
            <a:avLst/>
          </a:prstGeom>
          <a:solidFill>
            <a:srgbClr val="2B102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225296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MongoDB 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1115568"/>
            <a:ext cx="6537960" cy="512064"/>
          </a:xfrm>
          <a:prstGeom prst="rect">
            <a:avLst/>
          </a:prstGeom>
          <a:solidFill>
            <a:srgbClr val="2B102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225296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PyMongo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1645919"/>
            <a:ext cx="4572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75564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1645919"/>
            <a:ext cx="210312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755647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predict_customer()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45919"/>
            <a:ext cx="22860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1755647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Insert one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1645919"/>
            <a:ext cx="653796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1755647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records.insert_one(record)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176272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286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102F"/>
                </a:solidFill>
                <a:latin typeface="Calibri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2176272"/>
            <a:ext cx="2103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228600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show_all()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176272"/>
            <a:ext cx="2286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2286000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Find all + 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2176272"/>
            <a:ext cx="65379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286000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ourier New"/>
              </a:rPr>
              <a:t>records.find().sort('_id',-1).limit(10)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706624"/>
            <a:ext cx="4572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2706624"/>
            <a:ext cx="210312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281635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find_one()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2706624"/>
            <a:ext cx="22860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2" y="281635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Find one by 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8928" y="2706624"/>
            <a:ext cx="653796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2816352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records.find_one({'_id': ObjectId(id)})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3236976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346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102F"/>
                </a:solidFill>
                <a:latin typeface="Calibri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3236976"/>
            <a:ext cx="2103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34670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update_note()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236976"/>
            <a:ext cx="2286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07792" y="334670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Update one field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38928" y="3236976"/>
            <a:ext cx="65379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3346704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ourier New"/>
              </a:rPr>
              <a:t>records.update_one({...}, {'$set':{...}})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" y="3767328"/>
            <a:ext cx="4572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3877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3767328"/>
            <a:ext cx="210312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38770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delete_one()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3767328"/>
            <a:ext cx="22860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07792" y="3877056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Delete one record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38928" y="3767328"/>
            <a:ext cx="653796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3877056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records.delete_one({'_id': ObjectId(id)})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4297679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44074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102F"/>
                </a:solidFill>
                <a:latin typeface="Calibri"/>
              </a:rPr>
              <a:t>06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297679"/>
            <a:ext cx="2103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" y="4407407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count_records()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4297679"/>
            <a:ext cx="2286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7792" y="4407407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Count documents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38928" y="4297679"/>
            <a:ext cx="65379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12080" y="4407407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ourier New"/>
              </a:rPr>
              <a:t>records.count_documents({})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4828031"/>
            <a:ext cx="4572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9377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" y="4828031"/>
            <a:ext cx="210312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" y="4937759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filter_by_age()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4828031"/>
            <a:ext cx="22860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07792" y="4937759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Filter with $gt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38928" y="4828031"/>
            <a:ext cx="653796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4937759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records.find({'age': {'$gt': N}})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5358383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9184" y="546811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102F"/>
                </a:solidFill>
                <a:latin typeface="Calibri"/>
              </a:rPr>
              <a:t>08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" y="5358383"/>
            <a:ext cx="2103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" y="5468111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sort_by_age()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34640" y="5358383"/>
            <a:ext cx="2286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07792" y="5468111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alibri"/>
              </a:rPr>
              <a:t>Sort results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38928" y="5358383"/>
            <a:ext cx="65379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0" y="5468111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102F"/>
                </a:solidFill>
                <a:latin typeface="Courier New"/>
              </a:rPr>
              <a:t>records.find().sort('age', direction)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" y="5888736"/>
            <a:ext cx="4572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59984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3232" y="5888736"/>
            <a:ext cx="210312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" y="599846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summary()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34640" y="5888736"/>
            <a:ext cx="228600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07792" y="599846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Aggregation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38928" y="5888736"/>
            <a:ext cx="6537960" cy="512064"/>
          </a:xfrm>
          <a:prstGeom prst="rect">
            <a:avLst/>
          </a:prstGeom>
          <a:solidFill>
            <a:srgbClr val="F08C3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80" y="5998464"/>
            <a:ext cx="6428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records.aggregate([{$group:...},{$sort:...}])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1097280" cy="6858000"/>
          </a:xfrm>
          <a:prstGeom prst="rect">
            <a:avLst/>
          </a:prstGeom>
          <a:solidFill>
            <a:srgbClr val="903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>
                <a:solidFill>
                  <a:srgbClr val="C05520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-4572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>
                <a:solidFill>
                  <a:srgbClr val="D0652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8C3A"/>
                </a:solidFill>
                <a:latin typeface="Calibr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B"/>
                </a:solidFill>
                <a:latin typeface="Calibri"/>
              </a:rPr>
              <a:t>Bank Churn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08C3A"/>
                </a:solidFill>
                <a:latin typeface="Calibri"/>
              </a:rPr>
              <a:t>Let's Build
Smarter Banking
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Project Complete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159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B"/>
                </a:solidFill>
                <a:latin typeface="Calibri"/>
              </a:rPr>
              <a:t>✦  86% Accuracy — Random Forest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27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B"/>
                </a:solidFill>
                <a:latin typeface="Calibri"/>
              </a:rPr>
              <a:t>✦  9 MongoDB Operations Demonstrated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389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B"/>
                </a:solidFill>
                <a:latin typeface="Calibri"/>
              </a:rPr>
              <a:t>✦  Clean, minimal 2-file Python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504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0EB"/>
                </a:solidFill>
                <a:latin typeface="Calibri"/>
              </a:rPr>
              <a:t>✦  Real predictions stored in MongoDB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